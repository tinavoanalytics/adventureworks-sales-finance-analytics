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5" autoAdjust="0"/>
    <p:restoredTop sz="66465" autoAdjust="0"/>
  </p:normalViewPr>
  <p:slideViewPr>
    <p:cSldViewPr snapToGrid="0" snapToObjects="1">
      <p:cViewPr varScale="1">
        <p:scale>
          <a:sx n="107" d="100"/>
          <a:sy n="107" d="100"/>
        </p:scale>
        <p:origin x="3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293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  <a:p>
            <a:endParaRPr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559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3000" b="1">
                <a:solidFill>
                  <a:srgbClr val="0D4E84"/>
                </a:solidFill>
              </a:defRPr>
            </a:pPr>
            <a:r>
              <a:rPr dirty="0" err="1"/>
              <a:t>AdventureWorks</a:t>
            </a:r>
            <a:r>
              <a:rPr dirty="0"/>
              <a:t> Reseller Sales &amp; Profitability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101498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900" b="1">
                <a:solidFill>
                  <a:srgbClr val="2196F3"/>
                </a:solidFill>
              </a:defRPr>
            </a:pPr>
            <a:r>
              <a:t>Management-Focused Business Analysis | Project #3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8760" y="2880360"/>
            <a:ext cx="9144000" cy="141732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0D4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55063" y="2990088"/>
            <a:ext cx="8851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Analytical storyline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5063" y="3319272"/>
            <a:ext cx="8851392" cy="8869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Business problem → evidence → business risk → root-cause hypotheses → diagnostic analysis → corrective actions → expected impact → continuous decision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108813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0">
                <a:solidFill>
                  <a:srgbClr val="1E2D3C"/>
                </a:solidFill>
              </a:defRPr>
            </a:pPr>
            <a:r>
              <a:t>SQL Server  •  Excel Financial Modeling  • 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10881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1">
                <a:solidFill>
                  <a:srgbClr val="0D4E84"/>
                </a:solidFill>
              </a:defRPr>
            </a:pPr>
            <a:r>
              <a:t>Prepared by Tina Vo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062"/>
    </mc:Choice>
    <mc:Fallback xmlns="">
      <p:transition spd="slow" advTm="430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502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097280"/>
            <a:ext cx="9875520" cy="475488"/>
          </a:xfrm>
          <a:prstGeom prst="roundRect">
            <a:avLst/>
          </a:prstGeom>
          <a:solidFill>
            <a:srgbClr val="EDF7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0" y="1197864"/>
            <a:ext cx="9326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Business Problem &amp; Executive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502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847088"/>
            <a:ext cx="9875520" cy="475488"/>
          </a:xfrm>
          <a:prstGeom prst="roundRect">
            <a:avLst/>
          </a:prstGeom>
          <a:solidFill>
            <a:srgbClr val="EDF7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0200" y="1947672"/>
            <a:ext cx="9326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Business Risks, Root-Cause Hypotheses &amp; Diagnostic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42615"/>
            <a:ext cx="502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</a:defRPr>
            </a:pPr>
            <a: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596896"/>
            <a:ext cx="9875520" cy="475488"/>
          </a:xfrm>
          <a:prstGeom prst="roundRect">
            <a:avLst/>
          </a:prstGeom>
          <a:solidFill>
            <a:srgbClr val="EDF7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00200" y="2697479"/>
            <a:ext cx="9326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Major Profitability Drivers &amp; Comparative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92423"/>
            <a:ext cx="502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</a:defRPr>
            </a:pPr>
            <a:r>
              <a:t>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346703"/>
            <a:ext cx="9875520" cy="475488"/>
          </a:xfrm>
          <a:prstGeom prst="roundRect">
            <a:avLst/>
          </a:prstGeom>
          <a:solidFill>
            <a:srgbClr val="EDF7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00200" y="3447287"/>
            <a:ext cx="9326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SWOT: Analytical Business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42231"/>
            <a:ext cx="502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</a:defRPr>
            </a:pPr>
            <a:r>
              <a:t>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096511"/>
            <a:ext cx="9875520" cy="475488"/>
          </a:xfrm>
          <a:prstGeom prst="roundRect">
            <a:avLst/>
          </a:prstGeom>
          <a:solidFill>
            <a:srgbClr val="EDF7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00200" y="4197095"/>
            <a:ext cx="9326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Recommendations &amp; Corrective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502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>
                <a:solidFill>
                  <a:srgbClr val="2196F3"/>
                </a:solidFill>
              </a:defRPr>
            </a:pPr>
            <a:r>
              <a:t>06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846320"/>
            <a:ext cx="9875520" cy="475488"/>
          </a:xfrm>
          <a:prstGeom prst="roundRect">
            <a:avLst/>
          </a:prstGeom>
          <a:solidFill>
            <a:srgbClr val="EDF7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00200" y="4946903"/>
            <a:ext cx="93268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Expected Business Impact &amp; Decision-Support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Project #3 SQL, Excel financial analysis, and Power BI report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241"/>
    </mc:Choice>
    <mc:Fallback xmlns="">
      <p:transition spd="slow" advTm="4324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t>1. Business Problem: Strong Sales, Weak Profit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789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>
                <a:solidFill>
                  <a:srgbClr val="646E78"/>
                </a:solidFill>
              </a:defRPr>
            </a:pPr>
            <a:r>
              <a:t>Evidence first—before diagnosing causes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0D4E84"/>
                </a:solidFill>
              </a:defRPr>
            </a:pPr>
            <a:r>
              <a:t>$80.45M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38728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Gross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0D4E84"/>
                </a:solidFill>
              </a:defRPr>
            </a:pPr>
            <a:r>
              <a:t>$470.48K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Overall GM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D24650"/>
                </a:solidFill>
              </a:defRPr>
            </a:pPr>
            <a:r>
              <a:t>0.58%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16567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2013 GM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7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D24650"/>
                </a:solidFill>
              </a:defRPr>
            </a:pPr>
            <a:r>
              <a:t>-1.46%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514600"/>
            <a:ext cx="5212080" cy="150876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0D4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2624328"/>
            <a:ext cx="49194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What the data proves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953512"/>
            <a:ext cx="4919472" cy="9784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The reseller business generated substantial revenue, but the overall margin was only 0.58%. In 2013, revenue reached $33.57M while gross profit fell to ($491.87K).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70833"/>
            <a:ext cx="5212080" cy="150876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D2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" y="4542824"/>
            <a:ext cx="487375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D24650"/>
                </a:solidFill>
              </a:defRPr>
            </a:pPr>
            <a:r>
              <a:rPr dirty="0"/>
              <a:t>Management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14902"/>
            <a:ext cx="4873752" cy="9784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Revenue growth is not converting into profitable growth. Management needs to identify where margin is being lost, quantify the strongest drivers, and determine which levers deserve priority.</a:t>
            </a:r>
          </a:p>
        </p:txBody>
      </p:sp>
      <p:pic>
        <p:nvPicPr>
          <p:cNvPr id="25" name="Picture 24" descr="pag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959" y="2514599"/>
            <a:ext cx="5230759" cy="33787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Power BI Executive Overview + SQL profitability KPIs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844"/>
    </mc:Choice>
    <mc:Fallback xmlns="">
      <p:transition spd="slow" advTm="8084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rPr dirty="0"/>
              <a:t>2. Evidence → Risk: 2013 Became the Profitability Inflection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2012 GP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28915F"/>
                </a:solidFill>
              </a:defRPr>
            </a:pPr>
            <a:r>
              <a:t>$1.10M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2013 GP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D24650"/>
                </a:solidFill>
              </a:defRPr>
            </a:pPr>
            <a:r>
              <a:t>($491.87K)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GP Deterioration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D24650"/>
                </a:solidFill>
              </a:defRPr>
            </a:pPr>
            <a:r>
              <a:t>($1.59M)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16567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GM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7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D24650"/>
                </a:solidFill>
              </a:defRPr>
            </a:pPr>
            <a:r>
              <a:t>(5.77) 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560320"/>
            <a:ext cx="3429000" cy="18288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0D4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2670048"/>
            <a:ext cx="3136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999232"/>
            <a:ext cx="3136392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Jan–Nov 2013 revenue increased 31.52% versus the comparable Jan–Nov 2012 period. Units increased 45.06% and sales lines increased 43.08%.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560320"/>
            <a:ext cx="3429000" cy="18288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D2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35424" y="2670048"/>
            <a:ext cx="3136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D24650"/>
                </a:solidFill>
              </a:defRPr>
            </a:pPr>
            <a:r>
              <a:t>Business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2999232"/>
            <a:ext cx="3136392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More volume is being processed while profit is falling. If the pattern continues, growth can consume working capacity without creating economic value.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560320"/>
            <a:ext cx="3429000" cy="18288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BE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93024" y="2670048"/>
            <a:ext cx="3136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BE8C28"/>
                </a:solidFill>
              </a:defRPr>
            </a:pPr>
            <a:r>
              <a:t>Decision need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999232"/>
            <a:ext cx="3136392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Identify whether the deterioration is primarily driven by product mix, selling below cost, promotion/discount behavior, cost pressure, or combinations of these factors.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4892040"/>
            <a:ext cx="8412480" cy="86868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7D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66544" y="5001768"/>
            <a:ext cx="8119871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7D5A96"/>
                </a:solidFill>
              </a:defRPr>
            </a:pPr>
            <a:r>
              <a:t>Important scope note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6544" y="5330952"/>
            <a:ext cx="8119871" cy="3383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2013 is partial-year data ending November 29; YoY diagnostic comparisons use Jan–Nov 2012 versus Jan–Nov 2013.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Excel Performance Variance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032"/>
    </mc:Choice>
    <mc:Fallback xmlns="">
      <p:transition spd="slow" advTm="12003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rPr dirty="0"/>
              <a:t>3. Business Risks, Root-Cause Hypotheses &amp; Diagnostic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789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>
                <a:solidFill>
                  <a:srgbClr val="646E78"/>
                </a:solidFill>
              </a:defRPr>
            </a:pPr>
            <a:r>
              <a:t>Explicitly separating proof from what management should investigate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5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261872"/>
            <a:ext cx="21488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1">
                <a:solidFill>
                  <a:srgbClr val="D24650"/>
                </a:solidFill>
              </a:defRPr>
            </a:pPr>
            <a:r>
              <a:t>Product mix concentration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261872"/>
            <a:ext cx="3794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D3C"/>
                </a:solidFill>
              </a:defRPr>
            </a:pPr>
            <a:r>
              <a:t>Bikes dominate revenue and show losses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261872"/>
            <a:ext cx="4343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0D4E84"/>
                </a:solidFill>
              </a:defRPr>
            </a:pPr>
            <a:r>
              <a:t>Compare category and subcategory GP variance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75688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5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194560"/>
            <a:ext cx="21488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1">
                <a:solidFill>
                  <a:srgbClr val="D24650"/>
                </a:solidFill>
              </a:defRPr>
            </a:pPr>
            <a:r>
              <a:rPr dirty="0"/>
              <a:t>Below-cost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94560"/>
            <a:ext cx="3794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D3C"/>
                </a:solidFill>
              </a:defRPr>
            </a:pPr>
            <a:r>
              <a:t>40.27% of 2013 sales lines were below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194560"/>
            <a:ext cx="4343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0D4E84"/>
                </a:solidFill>
              </a:defRPr>
            </a:pPr>
            <a:r>
              <a:t>Price vs. standard cost by category/product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008376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5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3127248"/>
            <a:ext cx="21488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1">
                <a:solidFill>
                  <a:srgbClr val="BE8C28"/>
                </a:solidFill>
              </a:defRPr>
            </a:pPr>
            <a:r>
              <a:t>Promotion / discount pressure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27248"/>
            <a:ext cx="3794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D3C"/>
                </a:solidFill>
              </a:defRPr>
            </a:pPr>
            <a:r>
              <a:t>Some promotions show weak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127248"/>
            <a:ext cx="4343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0D4E84"/>
                </a:solidFill>
              </a:defRPr>
            </a:pPr>
            <a:r>
              <a:t>Compare promotion-level margin; test No Discount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41064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5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4059936"/>
            <a:ext cx="21488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1">
                <a:solidFill>
                  <a:srgbClr val="BE8C28"/>
                </a:solidFill>
              </a:defRPr>
            </a:pPr>
            <a:r>
              <a:t>Cost / price imbalance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059936"/>
            <a:ext cx="3794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D3C"/>
                </a:solidFill>
              </a:defRPr>
            </a:pPr>
            <a:r>
              <a:t>Thin margin makes results cost-sensitive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059936"/>
            <a:ext cx="4343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0D4E84"/>
                </a:solidFill>
              </a:defRPr>
            </a:pPr>
            <a:r>
              <a:t>Price-cost sensitivity and Goal Seek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873752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5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4992624"/>
            <a:ext cx="214884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1">
                <a:solidFill>
                  <a:srgbClr val="BE8C28"/>
                </a:solidFill>
              </a:defRPr>
            </a:pPr>
            <a:r>
              <a:rPr dirty="0"/>
              <a:t>Territory / reseller mix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992624"/>
            <a:ext cx="37947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D3C"/>
                </a:solidFill>
              </a:defRPr>
            </a:pPr>
            <a:r>
              <a:t>Profitability differs by market/customer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992624"/>
            <a:ext cx="4343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0D4E84"/>
                </a:solidFill>
              </a:defRPr>
            </a:pPr>
            <a:r>
              <a:t>Drill into territory and reseller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868680"/>
            <a:ext cx="21031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46E78"/>
                </a:solidFill>
              </a:defRPr>
            </a:pPr>
            <a:r>
              <a:t>RISK / HYPOTHESIS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868680"/>
            <a:ext cx="36576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46E78"/>
                </a:solidFill>
              </a:defRPr>
            </a:pPr>
            <a:r>
              <a:t>EVIDENCE /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868680"/>
            <a:ext cx="411480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646E78"/>
                </a:solidFill>
              </a:defRPr>
            </a:pPr>
            <a:r>
              <a:t>DIAGNOSTIC 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5806440"/>
            <a:ext cx="9784080" cy="627916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7D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35024" y="5891420"/>
            <a:ext cx="94914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7D5A96"/>
                </a:solidFill>
              </a:defRPr>
            </a:pPr>
            <a:r>
              <a:rPr dirty="0"/>
              <a:t>Analytical discipline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0111" y="6165740"/>
            <a:ext cx="9491472" cy="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A hypothesis becomes a management conclusion only after the diagnostic evidence supports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Project #3 SQL, Excel financial analysis, and Power BI report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727"/>
    </mc:Choice>
    <mc:Fallback xmlns="">
      <p:transition spd="slow" advTm="14772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t>4. Major Driver Comparison: Which Categories Drove the GP Decline?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789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>
                <a:solidFill>
                  <a:srgbClr val="646E78"/>
                </a:solidFill>
              </a:defRPr>
            </a:pPr>
            <a:r>
              <a:t>Jan–Nov 2012 → Jan–Nov 2013 gross-profit variance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210312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E2D3C"/>
                </a:solidFill>
              </a:defRPr>
            </a:pPr>
            <a:r>
              <a:t>Bikes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344168"/>
            <a:ext cx="7818119" cy="182880"/>
          </a:xfrm>
          <a:prstGeom prst="rect">
            <a:avLst/>
          </a:prstGeom>
          <a:solidFill>
            <a:srgbClr val="E5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80360" y="1344168"/>
            <a:ext cx="7818119" cy="182880"/>
          </a:xfrm>
          <a:prstGeom prst="rect">
            <a:avLst/>
          </a:prstGeom>
          <a:solidFill>
            <a:srgbClr val="D2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71632" y="1316736"/>
            <a:ext cx="6583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50" b="1">
                <a:solidFill>
                  <a:srgbClr val="D24650"/>
                </a:solidFill>
              </a:defRPr>
            </a:pPr>
            <a:r>
              <a:t>($1,404K)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581912"/>
            <a:ext cx="29260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8"/>
                </a:solidFill>
              </a:defRPr>
            </a:pPr>
            <a:r>
              <a:t>88.34% of net GP deterioration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210312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E2D3C"/>
                </a:solidFill>
              </a:defRPr>
            </a:pPr>
            <a:r>
              <a:t>Components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167128"/>
            <a:ext cx="7818119" cy="182880"/>
          </a:xfrm>
          <a:prstGeom prst="rect">
            <a:avLst/>
          </a:prstGeom>
          <a:solidFill>
            <a:srgbClr val="E5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80360" y="2167128"/>
            <a:ext cx="1044976" cy="182880"/>
          </a:xfrm>
          <a:prstGeom prst="rect">
            <a:avLst/>
          </a:prstGeom>
          <a:solidFill>
            <a:srgbClr val="BE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71632" y="2139696"/>
            <a:ext cx="6583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50" b="1">
                <a:solidFill>
                  <a:srgbClr val="BE8C28"/>
                </a:solidFill>
              </a:defRPr>
            </a:pPr>
            <a:r>
              <a:t>($188K)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404872"/>
            <a:ext cx="29260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8"/>
                </a:solidFill>
              </a:defRPr>
            </a:pPr>
            <a:r>
              <a:t>11.81%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71800"/>
            <a:ext cx="210312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E2D3C"/>
                </a:solidFill>
              </a:defRPr>
            </a:pPr>
            <a:r>
              <a:t>Clothing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990088"/>
            <a:ext cx="7818119" cy="182880"/>
          </a:xfrm>
          <a:prstGeom prst="rect">
            <a:avLst/>
          </a:prstGeom>
          <a:solidFill>
            <a:srgbClr val="E5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880360" y="2990088"/>
            <a:ext cx="554834" cy="182880"/>
          </a:xfrm>
          <a:prstGeom prst="rect">
            <a:avLst/>
          </a:prstGeom>
          <a:solidFill>
            <a:srgbClr val="BE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71632" y="2962656"/>
            <a:ext cx="6583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50" b="1">
                <a:solidFill>
                  <a:srgbClr val="BE8C28"/>
                </a:solidFill>
              </a:defRPr>
            </a:pPr>
            <a:r>
              <a:t>($100K)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27832"/>
            <a:ext cx="29260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8"/>
                </a:solidFill>
              </a:defRPr>
            </a:pPr>
            <a:r>
              <a:t>6.27%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94760"/>
            <a:ext cx="210312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E2D3C"/>
                </a:solidFill>
              </a:defRPr>
            </a:pPr>
            <a:r>
              <a:t>Accessories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3813048"/>
            <a:ext cx="7818119" cy="182880"/>
          </a:xfrm>
          <a:prstGeom prst="rect">
            <a:avLst/>
          </a:prstGeom>
          <a:solidFill>
            <a:srgbClr val="E5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80360" y="3813048"/>
            <a:ext cx="568028" cy="182880"/>
          </a:xfrm>
          <a:prstGeom prst="rect">
            <a:avLst/>
          </a:prstGeom>
          <a:solidFill>
            <a:srgbClr val="28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71632" y="3785616"/>
            <a:ext cx="6583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50" b="1">
                <a:solidFill>
                  <a:srgbClr val="28915F"/>
                </a:solidFill>
              </a:defRPr>
            </a:pPr>
            <a:r>
              <a:t>$102K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050792"/>
            <a:ext cx="29260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8"/>
                </a:solidFill>
              </a:defRPr>
            </a:pPr>
            <a:r>
              <a:t>Positive offset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983480"/>
            <a:ext cx="5120640" cy="9144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D2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" y="5093208"/>
            <a:ext cx="4828031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D24650"/>
                </a:solidFill>
              </a:defRPr>
            </a:pPr>
            <a:r>
              <a:t>Strongest category driver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5422392"/>
            <a:ext cx="4828031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Bikes account for approximately 88% of the net overall GP deterioration. This makes Bikes the first management priority for deeper diagnosis.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983480"/>
            <a:ext cx="5074920" cy="9144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9944" y="5093208"/>
            <a:ext cx="478231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28915F"/>
                </a:solidFill>
              </a:defRPr>
            </a:pPr>
            <a:r>
              <a:t>Offsetting effect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5422392"/>
            <a:ext cx="4782312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Accessories improved GP by about $102K, partially offsetting losses elsewhere. Not every category deteriorated.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Excel Product Category YoY Performance + GP Variance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605"/>
    </mc:Choice>
    <mc:Fallback xmlns="">
      <p:transition spd="slow" advTm="7960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t>5. Diagnostic Drill-Down: What Drove the Bikes Loss?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789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>
                <a:solidFill>
                  <a:srgbClr val="646E78"/>
                </a:solidFill>
              </a:defRPr>
            </a:pPr>
            <a:r>
              <a:t>Bikes gross-profit variance by subcategory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10312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E2D3C"/>
                </a:solidFill>
              </a:defRPr>
            </a:pPr>
            <a:r>
              <a:t>Touring Bikes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344168"/>
            <a:ext cx="7635240" cy="182880"/>
          </a:xfrm>
          <a:prstGeom prst="rect">
            <a:avLst/>
          </a:prstGeom>
          <a:solidFill>
            <a:srgbClr val="E5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0" y="1344168"/>
            <a:ext cx="7635240" cy="182880"/>
          </a:xfrm>
          <a:prstGeom prst="rect">
            <a:avLst/>
          </a:prstGeom>
          <a:solidFill>
            <a:srgbClr val="D2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34472" y="1316736"/>
            <a:ext cx="6583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50" b="1">
                <a:solidFill>
                  <a:srgbClr val="D24650"/>
                </a:solidFill>
              </a:defRPr>
            </a:pPr>
            <a:r>
              <a:t>($1,031K)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581912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8"/>
                </a:solidFill>
              </a:defRPr>
            </a:pPr>
            <a:r>
              <a:t>73.42% of Bikes deterioration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210312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E2D3C"/>
                </a:solidFill>
              </a:defRPr>
            </a:pPr>
            <a:r>
              <a:t>Road Bikes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258568"/>
            <a:ext cx="7635240" cy="182880"/>
          </a:xfrm>
          <a:prstGeom prst="rect">
            <a:avLst/>
          </a:prstGeom>
          <a:solidFill>
            <a:srgbClr val="E5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26080" y="2258568"/>
            <a:ext cx="1398774" cy="182880"/>
          </a:xfrm>
          <a:prstGeom prst="rect">
            <a:avLst/>
          </a:prstGeom>
          <a:solidFill>
            <a:srgbClr val="BE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34472" y="2231136"/>
            <a:ext cx="6583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50" b="1">
                <a:solidFill>
                  <a:srgbClr val="BE8C28"/>
                </a:solidFill>
              </a:defRPr>
            </a:pPr>
            <a:r>
              <a:t>($189K)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96312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8"/>
                </a:solidFill>
              </a:defRPr>
            </a:pPr>
            <a:r>
              <a:t>13.45%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210312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E2D3C"/>
                </a:solidFill>
              </a:defRPr>
            </a:pPr>
            <a:r>
              <a:t>Mountain Bikes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172968"/>
            <a:ext cx="7635240" cy="182880"/>
          </a:xfrm>
          <a:prstGeom prst="rect">
            <a:avLst/>
          </a:prstGeom>
          <a:solidFill>
            <a:srgbClr val="E5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26080" y="3172968"/>
            <a:ext cx="1365154" cy="182880"/>
          </a:xfrm>
          <a:prstGeom prst="rect">
            <a:avLst/>
          </a:prstGeom>
          <a:solidFill>
            <a:srgbClr val="BE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34472" y="3145536"/>
            <a:ext cx="6583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50" b="1">
                <a:solidFill>
                  <a:srgbClr val="BE8C28"/>
                </a:solidFill>
              </a:defRPr>
            </a:pPr>
            <a:r>
              <a:t>($184K)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410712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0">
                <a:solidFill>
                  <a:srgbClr val="646E78"/>
                </a:solidFill>
              </a:defRPr>
            </a:pPr>
            <a:r>
              <a:t>13.13%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3429000" cy="123444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D2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4407408"/>
            <a:ext cx="3136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D24650"/>
                </a:solidFill>
              </a:defRPr>
            </a:pPr>
            <a:r>
              <a:t>Touring Bikes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736592"/>
            <a:ext cx="3136392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2013 revenue ≈ $9.91M</a:t>
            </a:r>
            <a:br/>
            <a:r>
              <a:t>2013 GM ≈ -10.41%</a:t>
            </a:r>
            <a:br/>
            <a:r>
              <a:t>Largest Bikes GP deterioration.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297680"/>
            <a:ext cx="3429000" cy="123444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BE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35424" y="4407408"/>
            <a:ext cx="3136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BE8C28"/>
                </a:solidFill>
              </a:defRPr>
            </a:pPr>
            <a:r>
              <a:t>Road Bikes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4736592"/>
            <a:ext cx="3136392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Revenue declined ≈ 27%</a:t>
            </a:r>
            <a:br/>
            <a:r>
              <a:t>GM worsened to ≈ -6.75%</a:t>
            </a:r>
            <a:br/>
            <a:r>
              <a:t>Already negative and deteriorated.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297680"/>
            <a:ext cx="3429000" cy="123444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93024" y="4407408"/>
            <a:ext cx="3136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28915F"/>
                </a:solidFill>
              </a:defRPr>
            </a:pPr>
            <a:r>
              <a:t>Mountain Bikes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4" y="4736592"/>
            <a:ext cx="3136392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Remained profitable</a:t>
            </a:r>
            <a:br/>
            <a:r>
              <a:t>2013 GM ≈ 7.50%</a:t>
            </a:r>
            <a:br/>
            <a:r>
              <a:t>But GP still declined versus 2012.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Excel Bikes Subcategory Profitability Drill-Down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837"/>
    </mc:Choice>
    <mc:Fallback xmlns="">
      <p:transition spd="slow" advTm="6983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t>6. Diagnostic Analysis: Below-Cost Pricing Is a Material Risk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2013 Sales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0D4E84"/>
                </a:solidFill>
              </a:defRPr>
            </a:pPr>
            <a:r>
              <a:t>28,540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Below-Cost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D24650"/>
                </a:solidFill>
              </a:defRPr>
            </a:pPr>
            <a:r>
              <a:t>11,492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Below-Cost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D24650"/>
                </a:solidFill>
              </a:defRPr>
            </a:pPr>
            <a:r>
              <a:t>40.27%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16567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Bikes Below-Cost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7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D24650"/>
                </a:solidFill>
              </a:defRPr>
            </a:pPr>
            <a:r>
              <a:t>72.09%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560320"/>
            <a:ext cx="5166360" cy="16002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0D4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2670048"/>
            <a:ext cx="487375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What the data supports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999232"/>
            <a:ext cx="4873752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Below-cost selling is widespread enough to be financially material, and it is especially concentrated in Bikes. This is consistent with the negative margin pattern.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560320"/>
            <a:ext cx="5166360" cy="16002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7D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2670048"/>
            <a:ext cx="487375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7D5A96"/>
                </a:solidFill>
              </a:defRPr>
            </a:pPr>
            <a:r>
              <a:t>What the data does NOT 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999232"/>
            <a:ext cx="4873752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The analysis does not prove that below-cost pricing alone caused every loss. Product mix, cost structure, promotions, territory, and reseller economics can interact.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572000"/>
            <a:ext cx="9418320" cy="100584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D2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17904" y="4681728"/>
            <a:ext cx="912571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D24650"/>
                </a:solidFill>
              </a:defRPr>
            </a:pPr>
            <a:r>
              <a:t>Management diagnostic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7904" y="5010912"/>
            <a:ext cx="9125712" cy="4754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Which high-revenue Bikes products, territories, resellers, and transaction groups repeatedly sell below standard cost—and are those transactions strategically justified?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Excel Pricing Effectiveness + SQL Price vs. Cost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121"/>
    </mc:Choice>
    <mc:Fallback xmlns="">
      <p:transition spd="slow" advTm="10712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rPr dirty="0"/>
              <a:t>7. Diagnostic Analysis: Promotions Are Not the Sole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429000" cy="16002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BE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1252728"/>
            <a:ext cx="3136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BE8C28"/>
                </a:solidFill>
              </a:defRPr>
            </a:pPr>
            <a:r>
              <a:t>Promotion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581912"/>
            <a:ext cx="3136392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Discount and promotion activity can reduce realized price, so promotion-level margin should be tested as a potential driver.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43000"/>
            <a:ext cx="3429000" cy="16002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0D4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1252728"/>
            <a:ext cx="3136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Diagnostic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581912"/>
            <a:ext cx="3136392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The project analysis found negative economics even in the No Discount population. Some promotions were worse, but losses were not limited to promoted sales.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143000"/>
            <a:ext cx="3429000" cy="16002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D2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38744" y="1252728"/>
            <a:ext cx="3136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D24650"/>
                </a:solidFill>
              </a:defRPr>
            </a:pPr>
            <a:r>
              <a:t>Management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581912"/>
            <a:ext cx="3136392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Avoid a blanket conclusion that promotions caused the loss. Investigate pricing discipline and product economics more broadly.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46120"/>
            <a:ext cx="5257800" cy="150876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7D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" y="3355848"/>
            <a:ext cx="49651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7D5A96"/>
                </a:solidFill>
              </a:defRPr>
            </a:pPr>
            <a:r>
              <a:t>Cost / price imbalance 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3685031"/>
            <a:ext cx="4965192" cy="9784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Because baseline Bikes margin is already negative, relatively small changes in realized price or product cost can materially change profitability.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246120"/>
            <a:ext cx="5257800" cy="150876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4" y="3355848"/>
            <a:ext cx="49651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2196F3"/>
                </a:solidFill>
              </a:defRPr>
            </a:pPr>
            <a:r>
              <a:t>Territory / reseller 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685031"/>
            <a:ext cx="4965192" cy="9784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North America is profitable overall, while Europe and Pacific are negative. Customer and market mix therefore deserve targeted review rather than one global response.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5166360"/>
            <a:ext cx="9235440" cy="73152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0D4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09344" y="5276088"/>
            <a:ext cx="894283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Diagnostic 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5605272"/>
            <a:ext cx="8942832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The evidence points to a multi-factor profitability problem, with Bikes product economics and below-cost exposure as the strongest signals.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SQL Promotion &amp; Time Trend Analysis + Power BI Territory &amp; Reseller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583"/>
    </mc:Choice>
    <mc:Fallback xmlns="">
      <p:transition spd="slow" advTm="10758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t>8. SWOT: Business &amp; Analytical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789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>
                <a:solidFill>
                  <a:srgbClr val="646E78"/>
                </a:solidFill>
              </a:defRPr>
            </a:pPr>
            <a:r>
              <a:t>Using the findings to frame management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57800" cy="196596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207007"/>
            <a:ext cx="49651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28915F"/>
                </a:solidFill>
              </a:defRPr>
            </a:pPr>
            <a: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536192"/>
            <a:ext cx="4965192" cy="14356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• Strong revenue scale and reseller activity</a:t>
            </a:r>
            <a:br/>
            <a:r>
              <a:t>• Profitable categories offset part of Bikes losses</a:t>
            </a:r>
            <a:br/>
            <a:r>
              <a:t>• North America profitable overall</a:t>
            </a:r>
            <a:br/>
            <a:r>
              <a:t>• Integrated SQL–Excel–Power BI monitoring capability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257800" cy="196596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D2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1207007"/>
            <a:ext cx="49651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D24650"/>
                </a:solidFill>
              </a:defRPr>
            </a:pPr>
            <a:r>
              <a:t>WEAKNESSES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1536192"/>
            <a:ext cx="4965192" cy="14356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• Overall GM only 0.58%</a:t>
            </a:r>
            <a:br/>
            <a:r>
              <a:t>• 2013 GM negative</a:t>
            </a:r>
            <a:br/>
            <a:r>
              <a:t>• Bikes dominate revenue but lose money</a:t>
            </a:r>
            <a:br/>
            <a:r>
              <a:t>• High below-cost exposure in 2013 Bikes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5257800" cy="196596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" y="3538728"/>
            <a:ext cx="49651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2196F3"/>
                </a:solidFill>
              </a:defRPr>
            </a:pPr>
            <a:r>
              <a:t>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3867912"/>
            <a:ext cx="4965192" cy="14356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• Exception-based pricing governance</a:t>
            </a:r>
            <a:br/>
            <a:r>
              <a:t>• Product/subcategory price-cost review</a:t>
            </a:r>
            <a:br/>
            <a:r>
              <a:t>• Territory/reseller profitability segmentation</a:t>
            </a:r>
            <a:br/>
            <a:r>
              <a:t>• Scenario modeling before commercial decisions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29000"/>
            <a:ext cx="5257800" cy="196596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BE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3538728"/>
            <a:ext cx="49651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BE8C28"/>
                </a:solidFill>
              </a:defRPr>
            </a:pPr>
            <a:r>
              <a:t>THREATS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867912"/>
            <a:ext cx="4965192" cy="14356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• Revenue growth can deepen losses</a:t>
            </a:r>
            <a:br/>
            <a:r>
              <a:t>• Cost inflation can quickly erode thin margins</a:t>
            </a:r>
            <a:br/>
            <a:r>
              <a:t>• Broad pricing changes may affect demand/customer retention</a:t>
            </a:r>
            <a:br/>
            <a:r>
              <a:t>• Partial-year and historical data limit forward-looking 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Project #3 SQL, Excel financial analysis, and Power BI report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497"/>
    </mc:Choice>
    <mc:Fallback xmlns="">
      <p:transition spd="slow" advTm="8649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t>9. Decision Support: Test Corrective Levers Before Acting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789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>
                <a:solidFill>
                  <a:srgbClr val="646E78"/>
                </a:solidFill>
              </a:defRPr>
            </a:pPr>
            <a:r>
              <a:t>Bikes price-cost sensitivity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Historical Bikes GM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D24650"/>
                </a:solidFill>
              </a:defRPr>
            </a:pPr>
            <a:r>
              <a:t>-1.49%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38728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+5%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0D4E84"/>
                </a:solidFill>
              </a:defRPr>
            </a:pPr>
            <a:r>
              <a:t>3.34%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+7.5%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28915F"/>
                </a:solidFill>
              </a:defRPr>
            </a:pPr>
            <a:r>
              <a:t>5.59%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109728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16567" y="1207007"/>
            <a:ext cx="2249424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2196F3"/>
                </a:solidFill>
              </a:defRPr>
            </a:pPr>
            <a:r>
              <a:t>Price for ~5% GM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7" y="1481328"/>
            <a:ext cx="2249424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100" b="1">
                <a:solidFill>
                  <a:srgbClr val="28915F"/>
                </a:solidFill>
              </a:defRPr>
            </a:pPr>
            <a:r>
              <a:t>~+6.82%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51760"/>
            <a:ext cx="5212080" cy="16002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0D4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2761488"/>
            <a:ext cx="49194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What the model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090672"/>
            <a:ext cx="4919472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Under a constant-cost assumption, Bikes margin is highly sensitive to realized price. A price change around 6.82% is required in the model to approach a 5% GM target.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651760"/>
            <a:ext cx="5166360" cy="16002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BE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9944" y="2761488"/>
            <a:ext cx="487375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BE8C28"/>
                </a:solidFill>
              </a:defRPr>
            </a:pPr>
            <a:r>
              <a:t>What management must add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090672"/>
            <a:ext cx="4873752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Demand elasticity, competitor pricing, customer retention, contract terms, inventory position, and strategic account considerations before implementation.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4800600"/>
            <a:ext cx="9235440" cy="86868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7D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09344" y="4910328"/>
            <a:ext cx="894283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7D5A96"/>
                </a:solidFill>
              </a:defRPr>
            </a:pPr>
            <a:r>
              <a:t>Decision principle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5239512"/>
            <a:ext cx="8942832" cy="3383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Use sensitivity analysis to define the financial requirement; use commercial evidence to decide whether and how to act.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Excel Price &amp; Cost Sensitivity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104"/>
    </mc:Choice>
    <mc:Fallback xmlns="">
      <p:transition spd="slow" advTm="12010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t>10. Recommendations &amp; Corrective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789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>
                <a:solidFill>
                  <a:srgbClr val="646E78"/>
                </a:solidFill>
              </a:defRPr>
            </a:pPr>
            <a:r>
              <a:t>Prioritized by evidence and financial 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960120"/>
            <a:ext cx="438912" cy="438912"/>
          </a:xfrm>
          <a:prstGeom prst="ellipse">
            <a:avLst/>
          </a:prstGeom>
          <a:solidFill>
            <a:srgbClr val="0D4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33272"/>
            <a:ext cx="438912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950976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50" b="1">
                <a:solidFill>
                  <a:srgbClr val="0D4E84"/>
                </a:solidFill>
              </a:defRPr>
            </a:pPr>
            <a:r>
              <a:t>Touring / Road Bikes deep dive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950976"/>
            <a:ext cx="7132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D3C"/>
                </a:solidFill>
              </a:defRPr>
            </a:pPr>
            <a:r>
              <a:t>Review price-to-cost gaps at product, reseller, and territory level; validate whether loss-making transactions are intentional.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1920240"/>
            <a:ext cx="438912" cy="438912"/>
          </a:xfrm>
          <a:prstGeom prst="ellipse">
            <a:avLst/>
          </a:prstGeom>
          <a:solidFill>
            <a:srgbClr val="0D4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438912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11096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50" b="1">
                <a:solidFill>
                  <a:srgbClr val="0D4E84"/>
                </a:solidFill>
              </a:defRPr>
            </a:pPr>
            <a:r>
              <a:t>Pricing exception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911096"/>
            <a:ext cx="7132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D3C"/>
                </a:solidFill>
              </a:defRPr>
            </a:pPr>
            <a:r>
              <a:rPr dirty="0"/>
              <a:t>Use the watchlist to route high-exposure below-cost / low-margin transactions for review before margin risk compounds.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880360"/>
            <a:ext cx="438912" cy="438912"/>
          </a:xfrm>
          <a:prstGeom prst="ellipse">
            <a:avLst/>
          </a:prstGeom>
          <a:solidFill>
            <a:srgbClr val="0D4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953512"/>
            <a:ext cx="438912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871216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50" b="1">
                <a:solidFill>
                  <a:srgbClr val="0D4E84"/>
                </a:solidFill>
              </a:defRPr>
            </a:pPr>
            <a:r>
              <a:t>Margin-based performance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871216"/>
            <a:ext cx="7132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D3C"/>
                </a:solidFill>
              </a:defRPr>
            </a:pPr>
            <a:r>
              <a:rPr dirty="0"/>
              <a:t>Pair revenue KPIs with GP and GM so growth is evaluated on economic quality, not sales volume alone.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840480"/>
            <a:ext cx="438912" cy="438912"/>
          </a:xfrm>
          <a:prstGeom prst="ellipse">
            <a:avLst/>
          </a:prstGeom>
          <a:solidFill>
            <a:srgbClr val="0D4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913632"/>
            <a:ext cx="438912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831336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50" b="1">
                <a:solidFill>
                  <a:srgbClr val="0D4E84"/>
                </a:solidFill>
              </a:defRPr>
            </a:pPr>
            <a:r>
              <a:t>Targeted—not blanket—commercial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831336"/>
            <a:ext cx="7132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D3C"/>
                </a:solidFill>
              </a:defRPr>
            </a:pPr>
            <a:r>
              <a:t>Differentiate by product, territory, reseller, and promotion rather than applying one global pricing response.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800600"/>
            <a:ext cx="438912" cy="438912"/>
          </a:xfrm>
          <a:prstGeom prst="ellipse">
            <a:avLst/>
          </a:prstGeom>
          <a:solidFill>
            <a:srgbClr val="0D4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73752"/>
            <a:ext cx="438912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791456"/>
            <a:ext cx="2880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50" b="1">
                <a:solidFill>
                  <a:srgbClr val="0D4E84"/>
                </a:solidFill>
              </a:defRPr>
            </a:pPr>
            <a:r>
              <a:t>Scenario + commercial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791456"/>
            <a:ext cx="71323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1E2D3C"/>
                </a:solidFill>
              </a:defRPr>
            </a:pPr>
            <a:r>
              <a:rPr dirty="0"/>
              <a:t>Use sensitivity models to size required financial improvement, then test against customer and market constraints.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Project #3 SQL, Excel financial analysis, and Power BI report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403"/>
    </mc:Choice>
    <mc:Fallback xmlns="">
      <p:transition spd="slow" advTm="8440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t>11. Expected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85800"/>
            <a:ext cx="10789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>
                <a:solidFill>
                  <a:srgbClr val="646E78"/>
                </a:solidFill>
              </a:defRPr>
            </a:pPr>
            <a:r>
              <a:rPr dirty="0"/>
              <a:t>What improvement should management expect to influence?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3429000" cy="155448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28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252728"/>
            <a:ext cx="3136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28915F"/>
                </a:solidFill>
              </a:defRPr>
            </a:pPr>
            <a:r>
              <a:t>Margin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581912"/>
            <a:ext cx="3136392" cy="10241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Earlier visibility into below-cost and low-margin transactions can reduce unmanaged margin leakage.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43000"/>
            <a:ext cx="3429000" cy="155448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5424" y="1252728"/>
            <a:ext cx="3136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2196F3"/>
                </a:solidFill>
              </a:defRPr>
            </a:pPr>
            <a:r>
              <a:t>Better prioritization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581912"/>
            <a:ext cx="3136392" cy="10241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Driver ranking focuses management attention on the products and transaction groups with the largest financial impact.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429000" cy="155448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0D4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38744" y="1252728"/>
            <a:ext cx="31363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Higher-quality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581912"/>
            <a:ext cx="3136392" cy="10241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Revenue decisions can be evaluated together with GP and GM, improving the distinction between volume growth and profitable growth.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337560"/>
            <a:ext cx="4023360" cy="150876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7D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75104" y="3447288"/>
            <a:ext cx="373075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7D5A96"/>
                </a:solidFill>
              </a:defRPr>
            </a:pPr>
            <a:r>
              <a:t>Faster diagnosis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3776472"/>
            <a:ext cx="3730752" cy="9784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Drill-through, tooltips, and exception analysis shorten the path from an executive KPI to product, reseller, and territory-level investigation.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337560"/>
            <a:ext cx="4023360" cy="150876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BE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55664" y="3447288"/>
            <a:ext cx="373075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BE8C28"/>
                </a:solidFill>
              </a:defRPr>
            </a:pPr>
            <a:r>
              <a:t>More disciplined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776472"/>
            <a:ext cx="3730752" cy="9784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Scenario analysis makes the financial trade-off visible before pricing or cost actions are implemented.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5257800"/>
            <a:ext cx="9235440" cy="73152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D2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09344" y="5367528"/>
            <a:ext cx="894283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D24650"/>
                </a:solidFill>
              </a:defRPr>
            </a:pPr>
            <a:r>
              <a:t>Measurement note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9344" y="5696712"/>
            <a:ext cx="8942832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These are expected decision-support benefits. Actual financial impact requires implementation data and post-action measurement.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Project #3 SQL, Excel financial analysis, and Power BI report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336"/>
    </mc:Choice>
    <mc:Fallback xmlns="">
      <p:transition spd="slow" advTm="6233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t>12. Continuous-Improvement &amp; Management Decision-Support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737360" cy="1508760"/>
          </a:xfrm>
          <a:prstGeom prst="roundRect">
            <a:avLst/>
          </a:prstGeom>
          <a:solidFill>
            <a:srgbClr val="EDF7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121408"/>
            <a:ext cx="155448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2196F3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15544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0D4E84"/>
                </a:solidFill>
              </a:defRPr>
            </a:pPr>
            <a: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770632"/>
            <a:ext cx="1517904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30" b="0">
                <a:solidFill>
                  <a:srgbClr val="1E2D3C"/>
                </a:solidFill>
              </a:defRPr>
            </a:pPr>
            <a:r>
              <a:t>Revenue • GP • GM • exceptions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4872" y="1965960"/>
            <a:ext cx="1737360" cy="1508760"/>
          </a:xfrm>
          <a:prstGeom prst="roundRect">
            <a:avLst/>
          </a:prstGeom>
          <a:solidFill>
            <a:srgbClr val="EDF7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6312" y="2121408"/>
            <a:ext cx="155448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2196F3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2423160"/>
            <a:ext cx="15544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0D4E84"/>
                </a:solidFill>
              </a:defRPr>
            </a:pPr>
            <a: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770632"/>
            <a:ext cx="1517904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30" b="0">
                <a:solidFill>
                  <a:srgbClr val="1E2D3C"/>
                </a:solidFill>
              </a:defRPr>
            </a:pPr>
            <a:r>
              <a:t>Below-cost / low-margin signals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6824" y="1965960"/>
            <a:ext cx="1737360" cy="1508760"/>
          </a:xfrm>
          <a:prstGeom prst="roundRect">
            <a:avLst/>
          </a:prstGeom>
          <a:solidFill>
            <a:srgbClr val="EDF7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98264" y="2121408"/>
            <a:ext cx="155448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2196F3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423160"/>
            <a:ext cx="15544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0D4E84"/>
                </a:solidFill>
              </a:defRPr>
            </a:pPr>
            <a:r>
              <a:t>DIAGNOSE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770632"/>
            <a:ext cx="1517904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30" b="0">
                <a:solidFill>
                  <a:srgbClr val="1E2D3C"/>
                </a:solidFill>
              </a:defRPr>
            </a:pPr>
            <a:r>
              <a:t>Product • territory • reseller • promotion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1965960"/>
            <a:ext cx="1737360" cy="1508760"/>
          </a:xfrm>
          <a:prstGeom prst="roundRect">
            <a:avLst/>
          </a:prstGeom>
          <a:solidFill>
            <a:srgbClr val="EDF7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0216" y="2121408"/>
            <a:ext cx="155448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2196F3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423160"/>
            <a:ext cx="15544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0D4E84"/>
                </a:solidFill>
              </a:defRPr>
            </a:pPr>
            <a: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2770632"/>
            <a:ext cx="1517904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30" b="0">
                <a:solidFill>
                  <a:srgbClr val="1E2D3C"/>
                </a:solidFill>
              </a:defRPr>
            </a:pPr>
            <a:r>
              <a:t>Price / cost sensitivity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0728" y="1965960"/>
            <a:ext cx="1737360" cy="1508760"/>
          </a:xfrm>
          <a:prstGeom prst="roundRect">
            <a:avLst/>
          </a:prstGeom>
          <a:solidFill>
            <a:srgbClr val="EDF7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02168" y="2121408"/>
            <a:ext cx="155448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2196F3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2423160"/>
            <a:ext cx="15544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0D4E84"/>
                </a:solidFill>
              </a:defRPr>
            </a:pPr>
            <a: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2770632"/>
            <a:ext cx="1517904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30" b="0">
                <a:solidFill>
                  <a:srgbClr val="1E2D3C"/>
                </a:solidFill>
              </a:defRPr>
            </a:pPr>
            <a:r>
              <a:t>Targeted corrective 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12680" y="1965960"/>
            <a:ext cx="1737360" cy="1508760"/>
          </a:xfrm>
          <a:prstGeom prst="roundRect">
            <a:avLst/>
          </a:prstGeom>
          <a:solidFill>
            <a:srgbClr val="EDF7FF"/>
          </a:solidFill>
          <a:ln>
            <a:solidFill>
              <a:srgbClr val="A4D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04120" y="2121408"/>
            <a:ext cx="155448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2196F3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2423160"/>
            <a:ext cx="1554480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0D4E84"/>
                </a:solidFill>
              </a:defRPr>
            </a:pPr>
            <a:r>
              <a:t>MEASURE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2770632"/>
            <a:ext cx="1517904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30" b="0">
                <a:solidFill>
                  <a:srgbClr val="1E2D3C"/>
                </a:solidFill>
              </a:defRPr>
            </a:pPr>
            <a:r>
              <a:t>Post-action KPI &amp; variance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4160520"/>
            <a:ext cx="9875520" cy="109728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0D4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89304" y="4270248"/>
            <a:ext cx="958291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Role of the Power BI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9304" y="4599431"/>
            <a:ext cx="9582912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The dashboard becomes the front end of a repeatable management cycle: monitor performance, identify exceptions, drill into drivers, evaluate scenarios, take action, and measure whether profitability improves.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Project #3 SQL, Excel financial analysis, and Power BI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1775" y="2505456"/>
            <a:ext cx="228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2196F3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3727" y="2478024"/>
            <a:ext cx="228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2196F3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3036" y="2487168"/>
            <a:ext cx="228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2196F3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0416" y="2487168"/>
            <a:ext cx="228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2196F3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6084" y="2487168"/>
            <a:ext cx="228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2196F3"/>
                </a:solidFill>
              </a:defRPr>
            </a:pPr>
            <a:r>
              <a:rPr dirty="0"/>
              <a:t>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673"/>
    </mc:Choice>
    <mc:Fallback xmlns="">
      <p:transition spd="slow" advTm="5067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4D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698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300" b="1">
                <a:solidFill>
                  <a:srgbClr val="0D4E84"/>
                </a:solidFill>
              </a:defRPr>
            </a:pPr>
            <a:r>
              <a:t>13. Management Dashboard: From KPI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64592"/>
            <a:ext cx="365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900" b="0">
                <a:solidFill>
                  <a:srgbClr val="0D4E84"/>
                </a:solidFill>
              </a:defRPr>
            </a:pPr>
            <a:r>
              <a:t>15</a:t>
            </a:r>
          </a:p>
        </p:txBody>
      </p:sp>
      <p:pic>
        <p:nvPicPr>
          <p:cNvPr id="6" name="Picture 5" descr="pag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2743200" cy="1572322"/>
          </a:xfrm>
          <a:prstGeom prst="rect">
            <a:avLst/>
          </a:prstGeom>
        </p:spPr>
      </p:pic>
      <p:pic>
        <p:nvPicPr>
          <p:cNvPr id="7" name="Picture 6" descr="pag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960120"/>
            <a:ext cx="2743200" cy="1572322"/>
          </a:xfrm>
          <a:prstGeom prst="rect">
            <a:avLst/>
          </a:prstGeom>
        </p:spPr>
      </p:pic>
      <p:pic>
        <p:nvPicPr>
          <p:cNvPr id="8" name="Picture 7" descr="page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960120"/>
            <a:ext cx="2743200" cy="1572322"/>
          </a:xfrm>
          <a:prstGeom prst="rect">
            <a:avLst/>
          </a:prstGeom>
        </p:spPr>
      </p:pic>
      <p:pic>
        <p:nvPicPr>
          <p:cNvPr id="9" name="Picture 8" descr="page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960120"/>
            <a:ext cx="2240280" cy="12840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2743200"/>
            <a:ext cx="2651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0D4E84"/>
                </a:solidFill>
              </a:defRPr>
            </a:pPr>
            <a:r>
              <a:t>Executive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43200"/>
            <a:ext cx="2651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0D4E84"/>
                </a:solidFill>
              </a:defRPr>
            </a:pPr>
            <a:r>
              <a:t>Pricing &amp; Profitability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26517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0D4E84"/>
                </a:solidFill>
              </a:defRPr>
            </a:pPr>
            <a:r>
              <a:t>Territory &amp; Reseller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743200"/>
            <a:ext cx="2286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0D4E84"/>
                </a:solidFill>
              </a:defRPr>
            </a:pPr>
            <a:r>
              <a:t>Product Profitability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10972800" cy="109728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D2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3447288"/>
            <a:ext cx="1068019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D24650"/>
                </a:solidFill>
              </a:defRPr>
            </a:pPr>
            <a:r>
              <a:t>Management 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776472"/>
            <a:ext cx="10680192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t>Profitability deterioration is concentrated—not random. Bikes are the dominant category driver, Touring Bikes are the strongest subcategory driver, and below-cost exposure is a major risk signal. The dashboard supports continuous diagnosis and targeted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4800600"/>
            <a:ext cx="9326880" cy="914400"/>
          </a:xfrm>
          <a:prstGeom prst="roundRect">
            <a:avLst/>
          </a:prstGeom>
          <a:solidFill>
            <a:srgbClr val="EDF7FF"/>
          </a:solidFill>
          <a:ln w="15240">
            <a:solidFill>
              <a:srgbClr val="0D4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09344" y="4910328"/>
            <a:ext cx="9034272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0D4E84"/>
                </a:solidFill>
              </a:defRPr>
            </a:pPr>
            <a:r>
              <a:t>Project #3 value proposition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344" y="5239512"/>
            <a:ext cx="9034272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20" b="0">
                <a:solidFill>
                  <a:srgbClr val="1E2D3C"/>
                </a:solidFill>
              </a:defRPr>
            </a:pPr>
            <a:r>
              <a:rPr dirty="0"/>
              <a:t>SQL validates and diagnoses the data → Excel quantifies variance, exceptions, and scenarios → Power BI converts the analysis into an interactive management decision-support system.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1">
                <a:solidFill>
                  <a:srgbClr val="0D4E84"/>
                </a:solidFill>
              </a:defRPr>
            </a:pPr>
            <a:r>
              <a:t>Tina Vo  |  SQL • Excel • Power BI • Sales Finance &amp; Business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50" b="0">
                <a:solidFill>
                  <a:srgbClr val="646E78"/>
                </a:solidFill>
              </a:defRPr>
            </a:pPr>
            <a:r>
              <a:t>Source: Project #3 SQL, Excel financial analysis, and Power BI report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91"/>
    </mc:Choice>
    <mc:Fallback xmlns="">
      <p:transition spd="slow" advTm="3899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0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61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20437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920240"/>
            <a:ext cx="99212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2D344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AdventureWorks Reseller Sales &amp; Profitability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297680"/>
            <a:ext cx="8503920" cy="777240"/>
          </a:xfrm>
          <a:prstGeom prst="roundRect">
            <a:avLst/>
          </a:prstGeom>
          <a:solidFill>
            <a:srgbClr val="E8EEF7"/>
          </a:solidFill>
          <a:ln>
            <a:solidFill>
              <a:srgbClr val="BF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0437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From KPI → diagnosis → financial modeling → targeted management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78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5F656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Tina Vo  |  SQL • Excel • Power BI • Sales Finance &amp; Business Analytics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357"/>
    </mc:Choice>
    <mc:Fallback xmlns="">
      <p:transition spd="slow" advTm="2435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6342</TotalTime>
  <Words>1892</Words>
  <Application>Microsoft Office PowerPoint</Application>
  <PresentationFormat>Widescreen</PresentationFormat>
  <Paragraphs>260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Jimmy Ly</dc:creator>
  <cp:keywords/>
  <dc:description>generated using python-pptx</dc:description>
  <cp:lastModifiedBy>Jimmy Ly</cp:lastModifiedBy>
  <cp:revision>65</cp:revision>
  <dcterms:created xsi:type="dcterms:W3CDTF">2013-01-27T09:14:16Z</dcterms:created>
  <dcterms:modified xsi:type="dcterms:W3CDTF">2026-09-25T06:55:19Z</dcterms:modified>
  <cp:category/>
</cp:coreProperties>
</file>